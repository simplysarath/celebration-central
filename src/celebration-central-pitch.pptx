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2286000" cy="2286000"/>
          </a:xfrm>
          <a:prstGeom prst="ellipse">
            <a:avLst/>
          </a:prstGeom>
          <a:solidFill>
            <a:srgbClr val="D94F5C">
              <a:alpha val="8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200400"/>
            <a:ext cx="2743200" cy="2743200"/>
          </a:xfrm>
          <a:prstGeom prst="ellipse">
            <a:avLst/>
          </a:prstGeom>
          <a:solidFill>
            <a:srgbClr val="F9C74F">
              <a:alpha val="9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45720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Celebration Central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914400" y="24688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AI-Powered Party Planning Concierge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3200400" y="3200400"/>
            <a:ext cx="2743200" cy="0"/>
          </a:xfrm>
          <a:prstGeom prst="line">
            <a:avLst/>
          </a:prstGeom>
          <a:noFill/>
          <a:ln w="25400">
            <a:solidFill>
              <a:srgbClr val="D94F5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371600" y="347472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native iOS app that transforms grocery store departments into a one-stop celebration hub — powered by AI, driven by delight.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Pitch  |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a celebration is fragmented and frustrating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80467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54480"/>
            <a:ext cx="64008" cy="960120"/>
          </a:xfrm>
          <a:prstGeom prst="rect">
            <a:avLst/>
          </a:prstGeom>
          <a:solidFill>
            <a:srgbClr val="D94F5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801368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6459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Scattered Experience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554480" y="201168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visit multiple sites &amp; stores — cake here, platters there, flowers elsewhere. They want one place.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651760"/>
            <a:ext cx="80467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8640" y="2651760"/>
            <a:ext cx="64008" cy="960120"/>
          </a:xfrm>
          <a:prstGeom prst="rect">
            <a:avLst/>
          </a:prstGeom>
          <a:solidFill>
            <a:srgbClr val="D94F5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898648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54480" y="27432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 Paralysis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554480" y="310896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of options but no guidance. What cake feeds 30? Which platters pair? Customers abandon carts.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749040"/>
            <a:ext cx="80467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48640" y="3749040"/>
            <a:ext cx="64008" cy="960120"/>
          </a:xfrm>
          <a:prstGeom prst="rect">
            <a:avLst/>
          </a:prstGeom>
          <a:solidFill>
            <a:srgbClr val="D94F5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995928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38404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Missed Revenue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554480" y="420624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 don't cross-sell. A birthday cake buyer never sees deli platters or balloon bundles. Money left on the table.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Solution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Celebration Central — an AI concierge, not a chatbot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606040" cy="3200400"/>
          </a:xfrm>
          <a:prstGeom prst="rect">
            <a:avLst/>
          </a:prstGeom>
          <a:solidFill>
            <a:srgbClr val="363B5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17320" y="1737360"/>
            <a:ext cx="868680" cy="868680"/>
          </a:xfrm>
          <a:prstGeom prst="ellipse">
            <a:avLst/>
          </a:prstGeom>
          <a:solidFill>
            <a:srgbClr val="D94F5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192024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7889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Guided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Planning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31520" y="347472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visual, quiz-style flow where the AI asks one smart question at a time — event type, guest count, theme, budget. No typing required.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429000" y="1508760"/>
            <a:ext cx="2606040" cy="3200400"/>
          </a:xfrm>
          <a:prstGeom prst="rect">
            <a:avLst/>
          </a:prstGeom>
          <a:solidFill>
            <a:srgbClr val="363B5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297680" y="1737360"/>
            <a:ext cx="868680" cy="868680"/>
          </a:xfrm>
          <a:prstGeom prst="ellipse">
            <a:avLst/>
          </a:prstGeom>
          <a:solidFill>
            <a:srgbClr val="D94F5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92024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11880" y="27889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Bundling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3611880" y="347472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curates complete party packages across bakery, deli &amp; floral in real-time. Every suggestion is inventory-aware.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309360" y="1508760"/>
            <a:ext cx="2606040" cy="3200400"/>
          </a:xfrm>
          <a:prstGeom prst="rect">
            <a:avLst/>
          </a:prstGeom>
          <a:solidFill>
            <a:srgbClr val="363B5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178040" y="1737360"/>
            <a:ext cx="868680" cy="868680"/>
          </a:xfrm>
          <a:prstGeom prst="ellipse">
            <a:avLst/>
          </a:prstGeom>
          <a:solidFill>
            <a:srgbClr val="D94F5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1920240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92240" y="27889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Seamless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Fulfillment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6492240" y="347472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cart, one checkout, one delivery. Customers pick delivery or pickup and the existing backend handles the rest.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guided journey — not a conversation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508760"/>
            <a:ext cx="685800" cy="685800"/>
          </a:xfrm>
          <a:prstGeom prst="ellipse">
            <a:avLst/>
          </a:prstGeom>
          <a:solidFill>
            <a:srgbClr val="D94F5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087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508760" y="1856232"/>
            <a:ext cx="502920" cy="0"/>
          </a:xfrm>
          <a:prstGeom prst="line">
            <a:avLst/>
          </a:prstGeom>
          <a:noFill/>
          <a:ln w="2540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233172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Choose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Occasion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28600" y="301752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Birthday, Wedding, Graduation, Baby Shower…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68880" y="1508760"/>
            <a:ext cx="685800" cy="685800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10" name="Text 8"/>
          <p:cNvSpPr/>
          <p:nvPr/>
        </p:nvSpPr>
        <p:spPr>
          <a:xfrm>
            <a:off x="2468880" y="15087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3246120" y="1856232"/>
            <a:ext cx="502920" cy="0"/>
          </a:xfrm>
          <a:prstGeom prst="line">
            <a:avLst/>
          </a:prstGeom>
          <a:noFill/>
          <a:ln w="2540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57400" y="233172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Tell Us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965960" y="301752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count, theme, dietary needs, budget range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206240" y="1508760"/>
            <a:ext cx="685800" cy="685800"/>
          </a:xfrm>
          <a:prstGeom prst="ellipse">
            <a:avLst/>
          </a:prstGeom>
          <a:solidFill>
            <a:srgbClr val="81B29A"/>
          </a:solidFill>
          <a:ln/>
        </p:spPr>
      </p:sp>
      <p:sp>
        <p:nvSpPr>
          <p:cNvPr id="15" name="Text 13"/>
          <p:cNvSpPr/>
          <p:nvPr/>
        </p:nvSpPr>
        <p:spPr>
          <a:xfrm>
            <a:off x="4206240" y="15087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4983480" y="1856232"/>
            <a:ext cx="502920" cy="0"/>
          </a:xfrm>
          <a:prstGeom prst="line">
            <a:avLst/>
          </a:prstGeom>
          <a:noFill/>
          <a:ln w="25400">
            <a:solidFill>
              <a:srgbClr val="D1D5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94760" y="233172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Package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703320" y="301752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AI-curated bundle: cake + platters + flowers + extras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0" y="1508760"/>
            <a:ext cx="685800" cy="685800"/>
          </a:xfrm>
          <a:prstGeom prst="ellipse">
            <a:avLst/>
          </a:prstGeom>
          <a:solidFill>
            <a:srgbClr val="F2CC8F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0" y="15087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6720840" y="1856232"/>
            <a:ext cx="502920" cy="0"/>
          </a:xfrm>
          <a:prstGeom prst="line">
            <a:avLst/>
          </a:prstGeom>
          <a:noFill/>
          <a:ln w="25400">
            <a:solidFill>
              <a:srgbClr val="D1D5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32120" y="233172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Customize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Swap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40680" y="301752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items, change sizes, add-ons with one tap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680960" y="1508760"/>
            <a:ext cx="685800" cy="68580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25" name="Text 23"/>
          <p:cNvSpPr/>
          <p:nvPr/>
        </p:nvSpPr>
        <p:spPr>
          <a:xfrm>
            <a:off x="7680960" y="15087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7269480" y="233172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Checkout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Deliver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178040" y="301752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date, delivery/pickup, pay — all in one flow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3977640"/>
            <a:ext cx="8046720" cy="822960"/>
          </a:xfrm>
          <a:prstGeom prst="rect">
            <a:avLst/>
          </a:prstGeom>
          <a:solidFill>
            <a:srgbClr val="FEF3E2"/>
          </a:solidFill>
          <a:ln/>
        </p:spPr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114800"/>
            <a:ext cx="502920" cy="50292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1463040" y="397764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screen is dynamically generated by the LLM agent — the flow adapts to each customer's unique celebration needs.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UX Philosophy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AI-powered, human-centered — no chat window in sight</a:t>
            </a:r>
            <a:endParaRPr lang="en-US" sz="1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1417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Question Per Screen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05840" y="176479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Large, tappable visual cards. No scrolling lists. Every choice feels intentional.</a:t>
            </a:r>
            <a:endParaRPr lang="en-US" sz="11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331720"/>
            <a:ext cx="32004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05840" y="2286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Show, Don't Type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1005840" y="263347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imagery for cakes, platters, flowers. Customers choose what they see, not what they can describe.</a:t>
            </a:r>
            <a:endParaRPr lang="en-US" sz="11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00400"/>
            <a:ext cx="320040" cy="320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05840" y="3154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Progress Without Pressure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1005840" y="350215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progress bar and back navigation. Users always know where they are and can change their mind.</a:t>
            </a:r>
            <a:endParaRPr lang="en-US" sz="11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069080"/>
            <a:ext cx="320040" cy="32004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05840" y="4023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Defaults, Easy Overrides</a:t>
            </a:r>
            <a:endParaRPr lang="en-US" sz="1500" dirty="0"/>
          </a:p>
        </p:txBody>
      </p:sp>
      <p:sp>
        <p:nvSpPr>
          <p:cNvPr id="15" name="Text 9"/>
          <p:cNvSpPr/>
          <p:nvPr/>
        </p:nvSpPr>
        <p:spPr>
          <a:xfrm>
            <a:off x="1005840" y="437083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pre-selects the best options. Customers tap to swap — never build from scratch.</a:t>
            </a:r>
            <a:endParaRPr lang="en-US" sz="1100" dirty="0"/>
          </a:p>
        </p:txBody>
      </p:sp>
      <p:sp>
        <p:nvSpPr>
          <p:cNvPr id="16" name="Shape 10"/>
          <p:cNvSpPr/>
          <p:nvPr/>
        </p:nvSpPr>
        <p:spPr>
          <a:xfrm>
            <a:off x="5212080" y="1417320"/>
            <a:ext cx="34747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1"/>
          <p:cNvSpPr/>
          <p:nvPr/>
        </p:nvSpPr>
        <p:spPr>
          <a:xfrm>
            <a:off x="5394960" y="1508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This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5394960" y="19202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"Hi! What are you planning?"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want a birthday cake"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flavor?"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"Chocolate"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many guests?"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5669280" y="3200400"/>
            <a:ext cx="25603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5394960" y="3337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Instead, This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5394960" y="37033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Beautiful visual cards. Tap "Birthday". See cake photos. Swipe to compare. One tap to add. Done.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High-Level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286000" cy="1371600"/>
          </a:xfrm>
          <a:prstGeom prst="rect">
            <a:avLst/>
          </a:prstGeom>
          <a:solidFill>
            <a:srgbClr val="EBF5FF"/>
          </a:solidFill>
          <a:ln w="19050">
            <a:solidFill>
              <a:srgbClr val="93C5FD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960120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960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iOS Native App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94360" y="132588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SwiftUI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UI Renderer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Card/Quiz Components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Management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2743200" y="1600200"/>
            <a:ext cx="640080" cy="0"/>
          </a:xfrm>
          <a:prstGeom prst="line">
            <a:avLst/>
          </a:prstGeom>
          <a:noFill/>
          <a:ln w="25400">
            <a:solidFill>
              <a:srgbClr val="D94F5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743200" y="13258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REST/WS</a:t>
            </a:r>
            <a:endParaRPr lang="en-US" sz="700" dirty="0"/>
          </a:p>
        </p:txBody>
      </p:sp>
      <p:sp>
        <p:nvSpPr>
          <p:cNvPr id="9" name="Shape 6"/>
          <p:cNvSpPr/>
          <p:nvPr/>
        </p:nvSpPr>
        <p:spPr>
          <a:xfrm>
            <a:off x="3383280" y="914400"/>
            <a:ext cx="2194560" cy="1371600"/>
          </a:xfrm>
          <a:prstGeom prst="rect">
            <a:avLst/>
          </a:prstGeom>
          <a:solidFill>
            <a:srgbClr val="FFF7ED"/>
          </a:solidFill>
          <a:ln w="19050">
            <a:solidFill>
              <a:srgbClr val="FDBA74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96012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840480" y="9601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 Gateway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3520440" y="132588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/ Rate Limiting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Management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Support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5577840" y="1600200"/>
            <a:ext cx="640080" cy="0"/>
          </a:xfrm>
          <a:prstGeom prst="line">
            <a:avLst/>
          </a:prstGeom>
          <a:noFill/>
          <a:ln w="25400">
            <a:solidFill>
              <a:srgbClr val="D94F5C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217920" y="640080"/>
            <a:ext cx="2560320" cy="1920240"/>
          </a:xfrm>
          <a:prstGeom prst="rect">
            <a:avLst/>
          </a:prstGeom>
          <a:solidFill>
            <a:srgbClr val="FEF3E2"/>
          </a:solidFill>
          <a:ln w="25400">
            <a:solidFill>
              <a:srgbClr val="F9C74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68580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720840" y="7132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LangGraph Agent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6355080" y="109728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Engine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Graph (Party Context)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(GPT-4 / Claude)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Schema Generator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Router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457200" y="2743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MCP Tool Servers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457200" y="3154680"/>
            <a:ext cx="2651760" cy="1371600"/>
          </a:xfrm>
          <a:prstGeom prst="rect">
            <a:avLst/>
          </a:prstGeom>
          <a:solidFill>
            <a:srgbClr val="DCFCE7"/>
          </a:solidFill>
          <a:ln w="19050">
            <a:solidFill>
              <a:srgbClr val="86EFAC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246120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05840" y="3200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Catalog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B2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Service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594360" y="37490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Products, Pricing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Decorations, Themes</a:t>
            </a:r>
            <a:endParaRPr lang="en-US" sz="900" dirty="0"/>
          </a:p>
        </p:txBody>
      </p:sp>
      <p:sp>
        <p:nvSpPr>
          <p:cNvPr id="23" name="Shape 17"/>
          <p:cNvSpPr/>
          <p:nvPr/>
        </p:nvSpPr>
        <p:spPr>
          <a:xfrm>
            <a:off x="1783080" y="2606040"/>
            <a:ext cx="0" cy="548640"/>
          </a:xfrm>
          <a:prstGeom prst="line">
            <a:avLst/>
          </a:prstGeom>
          <a:noFill/>
          <a:ln w="19050">
            <a:solidFill>
              <a:srgbClr val="D1D5DB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3383280" y="3154680"/>
            <a:ext cx="2651760" cy="1371600"/>
          </a:xfrm>
          <a:prstGeom prst="rect">
            <a:avLst/>
          </a:prstGeom>
          <a:solidFill>
            <a:srgbClr val="E0E7FF"/>
          </a:solidFill>
          <a:ln w="19050">
            <a:solidFill>
              <a:srgbClr val="A5B4FC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0440" y="3246120"/>
            <a:ext cx="320040" cy="32004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3931920" y="3200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Profile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B2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Service</a:t>
            </a:r>
            <a:endParaRPr lang="en-US" sz="1100" dirty="0"/>
          </a:p>
        </p:txBody>
      </p:sp>
      <p:sp>
        <p:nvSpPr>
          <p:cNvPr id="27" name="Text 20"/>
          <p:cNvSpPr/>
          <p:nvPr/>
        </p:nvSpPr>
        <p:spPr>
          <a:xfrm>
            <a:off x="3520440" y="37490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Preferences, History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Dietary, Allergies</a:t>
            </a:r>
            <a:endParaRPr lang="en-US" sz="900" dirty="0"/>
          </a:p>
        </p:txBody>
      </p:sp>
      <p:sp>
        <p:nvSpPr>
          <p:cNvPr id="28" name="Shape 21"/>
          <p:cNvSpPr/>
          <p:nvPr/>
        </p:nvSpPr>
        <p:spPr>
          <a:xfrm>
            <a:off x="4709160" y="2606040"/>
            <a:ext cx="0" cy="548640"/>
          </a:xfrm>
          <a:prstGeom prst="line">
            <a:avLst/>
          </a:prstGeom>
          <a:noFill/>
          <a:ln w="19050">
            <a:solidFill>
              <a:srgbClr val="D1D5DB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6309360" y="3154680"/>
            <a:ext cx="2651760" cy="1371600"/>
          </a:xfrm>
          <a:prstGeom prst="rect">
            <a:avLst/>
          </a:prstGeom>
          <a:solidFill>
            <a:srgbClr val="FCE7F3"/>
          </a:solidFill>
          <a:ln w="19050">
            <a:solidFill>
              <a:srgbClr val="F9A8D4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6520" y="3246120"/>
            <a:ext cx="320040" cy="32004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858000" y="3200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Order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B2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Service</a:t>
            </a:r>
            <a:endParaRPr lang="en-US" sz="1100" dirty="0"/>
          </a:p>
        </p:txBody>
      </p:sp>
      <p:sp>
        <p:nvSpPr>
          <p:cNvPr id="32" name="Text 24"/>
          <p:cNvSpPr/>
          <p:nvPr/>
        </p:nvSpPr>
        <p:spPr>
          <a:xfrm>
            <a:off x="6446520" y="37490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Cart, Checkout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Scheduling</a:t>
            </a:r>
            <a:endParaRPr lang="en-US" sz="900" dirty="0"/>
          </a:p>
        </p:txBody>
      </p:sp>
      <p:sp>
        <p:nvSpPr>
          <p:cNvPr id="33" name="Shape 25"/>
          <p:cNvSpPr/>
          <p:nvPr/>
        </p:nvSpPr>
        <p:spPr>
          <a:xfrm>
            <a:off x="7635240" y="2606040"/>
            <a:ext cx="0" cy="548640"/>
          </a:xfrm>
          <a:prstGeom prst="line">
            <a:avLst/>
          </a:prstGeom>
          <a:noFill/>
          <a:ln w="19050">
            <a:solidFill>
              <a:srgbClr val="D1D5DB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5" name="Text 27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eCommerce Platform  —  REST APIs  |  Inventory  |  Payment  |  Delivery Scheduling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Wins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3931920" cy="1508760"/>
          </a:xfrm>
          <a:prstGeom prst="rect">
            <a:avLst/>
          </a:prstGeom>
          <a:solidFill>
            <a:srgbClr val="363B5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463040"/>
            <a:ext cx="640080" cy="640080"/>
          </a:xfrm>
          <a:prstGeom prst="ellipse">
            <a:avLst/>
          </a:prstGeom>
          <a:solidFill>
            <a:srgbClr val="D94F5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581912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3716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Cross-Department Bundling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600200" y="17830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app that curates bakery + deli + floral into a single celebration package. Increases average order value by 3-5x.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2926080"/>
            <a:ext cx="3931920" cy="1508760"/>
          </a:xfrm>
          <a:prstGeom prst="rect">
            <a:avLst/>
          </a:prstGeom>
          <a:solidFill>
            <a:srgbClr val="363B5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77240" y="3200400"/>
            <a:ext cx="640080" cy="640080"/>
          </a:xfrm>
          <a:prstGeom prst="ellipse">
            <a:avLst/>
          </a:prstGeom>
          <a:solidFill>
            <a:srgbClr val="E07A5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3319272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00200" y="31089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Without the Chat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600200" y="352044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get personalized recommendations without typing a single word. The LLM agent drives the UX behind the scenes.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663440" y="1188720"/>
            <a:ext cx="3931920" cy="1508760"/>
          </a:xfrm>
          <a:prstGeom prst="rect">
            <a:avLst/>
          </a:prstGeom>
          <a:solidFill>
            <a:srgbClr val="363B5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892040" y="1463040"/>
            <a:ext cx="640080" cy="640080"/>
          </a:xfrm>
          <a:prstGeom prst="ellipse">
            <a:avLst/>
          </a:prstGeom>
          <a:solidFill>
            <a:srgbClr val="81B29A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0912" y="1581912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715000" y="13716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Zero New Infrastructure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5715000" y="17830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Plugs into your existing eCommerce REST APIs. No new catalog, no new payment system. Fast time-to-market.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663440" y="2926080"/>
            <a:ext cx="3931920" cy="1508760"/>
          </a:xfrm>
          <a:prstGeom prst="rect">
            <a:avLst/>
          </a:prstGeom>
          <a:solidFill>
            <a:srgbClr val="363B5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892040" y="3200400"/>
            <a:ext cx="640080" cy="640080"/>
          </a:xfrm>
          <a:prstGeom prst="ellipse">
            <a:avLst/>
          </a:prstGeom>
          <a:solidFill>
            <a:srgbClr val="F9C74F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0912" y="3319272"/>
            <a:ext cx="411480" cy="4114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715000" y="31089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Loyalty &amp; Repeat Events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5715000" y="352044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Remembers past celebrations. 'Reorder last year's birthday but bigger' becomes a one-tap action.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Projected Impact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188720"/>
            <a:ext cx="196596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188720"/>
            <a:ext cx="1965960" cy="64008"/>
          </a:xfrm>
          <a:prstGeom prst="rect">
            <a:avLst/>
          </a:prstGeom>
          <a:solidFill>
            <a:srgbClr val="D94F5C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46304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94F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3–5x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65760" y="219456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Higher Avg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Order Value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283464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Cross-department bundles vs single-department orders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14600" y="1188720"/>
            <a:ext cx="196596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14600" y="1188720"/>
            <a:ext cx="1965960" cy="64008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10" name="Text 8"/>
          <p:cNvSpPr/>
          <p:nvPr/>
        </p:nvSpPr>
        <p:spPr>
          <a:xfrm>
            <a:off x="2514600" y="146304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40%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2514600" y="219456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Conversion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Lift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651760" y="283464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flows reduce decision fatigue &amp; cart abandonment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1188720"/>
            <a:ext cx="196596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188720"/>
            <a:ext cx="1965960" cy="64008"/>
          </a:xfrm>
          <a:prstGeom prst="rect">
            <a:avLst/>
          </a:prstGeom>
          <a:solidFill>
            <a:srgbClr val="81B29A"/>
          </a:solidFill>
          <a:ln/>
        </p:spPr>
      </p:sp>
      <p:sp>
        <p:nvSpPr>
          <p:cNvPr id="15" name="Text 13"/>
          <p:cNvSpPr/>
          <p:nvPr/>
        </p:nvSpPr>
        <p:spPr>
          <a:xfrm>
            <a:off x="4663440" y="146304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81B2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60%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4663440" y="219456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Repeat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00600" y="283464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celebrations + smart reminders drive loyalty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12280" y="1188720"/>
            <a:ext cx="196596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812280" y="1188720"/>
            <a:ext cx="1965960" cy="64008"/>
          </a:xfrm>
          <a:prstGeom prst="rect">
            <a:avLst/>
          </a:prstGeom>
          <a:solidFill>
            <a:srgbClr val="F9C74F"/>
          </a:solidFill>
          <a:ln/>
        </p:spPr>
      </p:sp>
      <p:sp>
        <p:nvSpPr>
          <p:cNvPr id="20" name="Text 18"/>
          <p:cNvSpPr/>
          <p:nvPr/>
        </p:nvSpPr>
        <p:spPr>
          <a:xfrm>
            <a:off x="6812280" y="146304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9C7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2x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6812280" y="219456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Catering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Orders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49440" y="283464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 platters surfaced alongside every party plan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4251960"/>
            <a:ext cx="8046720" cy="640080"/>
          </a:xfrm>
          <a:prstGeom prst="rect">
            <a:avLst/>
          </a:prstGeom>
          <a:solidFill>
            <a:srgbClr val="FEF3E2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42519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Celebration Central turns every party into a full-store shopping trip. The AI doesn't just help customers — it grows basket size.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7680960" cy="5486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" name="Shape 2"/>
          <p:cNvSpPr/>
          <p:nvPr/>
        </p:nvSpPr>
        <p:spPr>
          <a:xfrm>
            <a:off x="1188720" y="1234440"/>
            <a:ext cx="320040" cy="320040"/>
          </a:xfrm>
          <a:prstGeom prst="ellipse">
            <a:avLst/>
          </a:prstGeom>
          <a:solidFill>
            <a:srgbClr val="D94F5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9601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1965960" cy="2560320"/>
          </a:xfrm>
          <a:prstGeom prst="rect">
            <a:avLst/>
          </a:prstGeom>
          <a:solidFill>
            <a:srgbClr val="F9FAF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828800"/>
            <a:ext cx="1965960" cy="54864"/>
          </a:xfrm>
          <a:prstGeom prst="rect">
            <a:avLst/>
          </a:prstGeom>
          <a:solidFill>
            <a:srgbClr val="D94F5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0116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MVP Launch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2743200"/>
            <a:ext cx="1691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party flow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Bakery ordering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Delivery/pickup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occasion types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0" y="1234440"/>
            <a:ext cx="320040" cy="320040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0" y="9601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606040" y="1828800"/>
            <a:ext cx="1965960" cy="2560320"/>
          </a:xfrm>
          <a:prstGeom prst="rect">
            <a:avLst/>
          </a:prstGeom>
          <a:solidFill>
            <a:srgbClr val="F9FAF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606040" y="1828800"/>
            <a:ext cx="1965960" cy="54864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0" y="20116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43200" y="22860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Catalog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743200" y="2743200"/>
            <a:ext cx="1691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 catering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Floral arrangements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occasion types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cake builder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394960" y="1234440"/>
            <a:ext cx="320040" cy="320040"/>
          </a:xfrm>
          <a:prstGeom prst="ellipse">
            <a:avLst/>
          </a:prstGeom>
          <a:solidFill>
            <a:srgbClr val="81B29A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9601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1B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2027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09160" y="1828800"/>
            <a:ext cx="1965960" cy="2560320"/>
          </a:xfrm>
          <a:prstGeom prst="rect">
            <a:avLst/>
          </a:prstGeom>
          <a:solidFill>
            <a:srgbClr val="F9FAF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1828800"/>
            <a:ext cx="1965960" cy="54864"/>
          </a:xfrm>
          <a:prstGeom prst="rect">
            <a:avLst/>
          </a:prstGeom>
          <a:solidFill>
            <a:srgbClr val="81B29A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20116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1B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46320" y="22860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Intelligence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846320" y="2743200"/>
            <a:ext cx="1691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reminders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 flows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themes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optimizer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98080" y="1234440"/>
            <a:ext cx="320040" cy="320040"/>
          </a:xfrm>
          <a:prstGeom prst="ellipse">
            <a:avLst/>
          </a:prstGeom>
          <a:solidFill>
            <a:srgbClr val="F9C74F"/>
          </a:solidFill>
          <a:ln/>
        </p:spPr>
      </p:sp>
      <p:sp>
        <p:nvSpPr>
          <p:cNvPr id="26" name="Text 24"/>
          <p:cNvSpPr/>
          <p:nvPr/>
        </p:nvSpPr>
        <p:spPr>
          <a:xfrm>
            <a:off x="6949440" y="9601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2027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812280" y="1828800"/>
            <a:ext cx="1965960" cy="2560320"/>
          </a:xfrm>
          <a:prstGeom prst="rect">
            <a:avLst/>
          </a:prstGeom>
          <a:solidFill>
            <a:srgbClr val="F9FAF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812280" y="1828800"/>
            <a:ext cx="1965960" cy="54864"/>
          </a:xfrm>
          <a:prstGeom prst="rect">
            <a:avLst/>
          </a:prstGeom>
          <a:solidFill>
            <a:srgbClr val="F9C74F"/>
          </a:solidFill>
          <a:ln/>
        </p:spPr>
      </p:sp>
      <p:sp>
        <p:nvSpPr>
          <p:cNvPr id="29" name="Text 27"/>
          <p:cNvSpPr/>
          <p:nvPr/>
        </p:nvSpPr>
        <p:spPr>
          <a:xfrm>
            <a:off x="6949440" y="20116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949440" y="22860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949440" y="2743200"/>
            <a:ext cx="1691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app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Multi-store rollout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integrations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200400" cy="3200400"/>
          </a:xfrm>
          <a:prstGeom prst="ellipse">
            <a:avLst/>
          </a:prstGeom>
          <a:solidFill>
            <a:srgbClr val="D94F5C">
              <a:alpha val="8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F9C74F">
              <a:alpha val="92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73152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64592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Build</a:t>
            </a:r>
            <a:endParaRPr lang="en-US" sz="3800" dirty="0"/>
          </a:p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Celebration Central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1371600" y="30175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every celebration into a seamless, delightful, full-store experience.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200400" y="3749040"/>
            <a:ext cx="2743200" cy="0"/>
          </a:xfrm>
          <a:prstGeom prst="line">
            <a:avLst/>
          </a:prstGeom>
          <a:noFill/>
          <a:ln w="25400">
            <a:solidFill>
              <a:srgbClr val="D94F5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371600" y="39319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 •  Cross-Department  •  Zero New Infrastructure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Celebration Central - Project Pitch</dc:title>
  <dc:subject>PptxGenJS Presentation</dc:subject>
  <dc:creator>Celebration Central</dc:creator>
  <cp:lastModifiedBy>Celebration Central</cp:lastModifiedBy>
  <cp:revision>1</cp:revision>
  <dcterms:created xsi:type="dcterms:W3CDTF">2026-03-01T03:10:35Z</dcterms:created>
  <dcterms:modified xsi:type="dcterms:W3CDTF">2026-03-01T03:10:35Z</dcterms:modified>
</cp:coreProperties>
</file>